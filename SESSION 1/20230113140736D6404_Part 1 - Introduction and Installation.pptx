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8" r:id="rId2"/>
    <p:sldId id="288" r:id="rId3"/>
    <p:sldId id="290" r:id="rId4"/>
    <p:sldId id="291" r:id="rId5"/>
    <p:sldId id="292" r:id="rId6"/>
    <p:sldId id="293" r:id="rId7"/>
    <p:sldId id="294" r:id="rId8"/>
    <p:sldId id="295" r:id="rId9"/>
    <p:sldId id="296" r:id="rId10"/>
    <p:sldId id="297" r:id="rId11"/>
    <p:sldId id="298" r:id="rId12"/>
    <p:sldId id="289" r:id="rId13"/>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10EE03-C726-4BDE-B6CF-D3D2ADF0E1B1}" v="1" dt="2023-01-02T03:37:44.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724" autoAdjust="0"/>
  </p:normalViewPr>
  <p:slideViewPr>
    <p:cSldViewPr>
      <p:cViewPr varScale="1">
        <p:scale>
          <a:sx n="64" d="100"/>
          <a:sy n="64" d="100"/>
        </p:scale>
        <p:origin x="156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7768735c-5c0d-4d9b-b550-ead0b3c82a30" providerId="ADAL" clId="{CD10EE03-C726-4BDE-B6CF-D3D2ADF0E1B1}"/>
    <pc:docChg chg="modSld">
      <pc:chgData name="Gusti Pangestu" userId="7768735c-5c0d-4d9b-b550-ead0b3c82a30" providerId="ADAL" clId="{CD10EE03-C726-4BDE-B6CF-D3D2ADF0E1B1}" dt="2023-01-02T03:37:45.169" v="2"/>
      <pc:docMkLst>
        <pc:docMk/>
      </pc:docMkLst>
      <pc:sldChg chg="modSp mod">
        <pc:chgData name="Gusti Pangestu" userId="7768735c-5c0d-4d9b-b550-ead0b3c82a30" providerId="ADAL" clId="{CD10EE03-C726-4BDE-B6CF-D3D2ADF0E1B1}" dt="2023-01-02T03:36:50.895" v="0"/>
        <pc:sldMkLst>
          <pc:docMk/>
          <pc:sldMk cId="1727291188" sldId="288"/>
        </pc:sldMkLst>
        <pc:spChg chg="mod">
          <ac:chgData name="Gusti Pangestu" userId="7768735c-5c0d-4d9b-b550-ead0b3c82a30" providerId="ADAL" clId="{CD10EE03-C726-4BDE-B6CF-D3D2ADF0E1B1}" dt="2023-01-02T03:36:50.895" v="0"/>
          <ac:spMkLst>
            <pc:docMk/>
            <pc:sldMk cId="1727291188" sldId="288"/>
            <ac:spMk id="3" creationId="{4C14D8CF-1B8B-4AE4-B51C-5D619267E8B5}"/>
          </ac:spMkLst>
        </pc:spChg>
      </pc:sldChg>
      <pc:sldChg chg="modSp mod">
        <pc:chgData name="Gusti Pangestu" userId="7768735c-5c0d-4d9b-b550-ead0b3c82a30" providerId="ADAL" clId="{CD10EE03-C726-4BDE-B6CF-D3D2ADF0E1B1}" dt="2023-01-02T03:37:45.169" v="2"/>
        <pc:sldMkLst>
          <pc:docMk/>
          <pc:sldMk cId="1365886943" sldId="289"/>
        </pc:sldMkLst>
        <pc:spChg chg="mod">
          <ac:chgData name="Gusti Pangestu" userId="7768735c-5c0d-4d9b-b550-ead0b3c82a30" providerId="ADAL" clId="{CD10EE03-C726-4BDE-B6CF-D3D2ADF0E1B1}" dt="2023-01-02T03:37:45.169" v="2"/>
          <ac:spMkLst>
            <pc:docMk/>
            <pc:sldMk cId="1365886943" sldId="289"/>
            <ac:spMk id="5" creationId="{BFC9FBC7-A7B5-44F5-875A-9C78EE947DD2}"/>
          </ac:spMkLst>
        </pc:spChg>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hyperlink" Target="https://go.dev/doc/install" TargetMode="Externa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hyperlink" Target="https://go.dev/dl/go1.19.2.darwin-amd64.pkg"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hyperlink" Target="https://go.dev/dl/go1.19.2.linux-amd64.tar.gz"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how-to-install-go-on-windows/" TargetMode="External"/><Relationship Id="rId2" Type="http://schemas.openxmlformats.org/officeDocument/2006/relationships/hyperlink" Target="https://go.dev/doc/instal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Popular Programming Tech</a:t>
            </a:r>
            <a:endParaRPr lang="en-US" dirty="0">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1</a:t>
            </a:r>
          </a:p>
          <a:p>
            <a:r>
              <a:rPr lang="en-US" dirty="0">
                <a:ea typeface="Open Sans"/>
                <a:cs typeface="Calibri"/>
              </a:rPr>
              <a:t>Introduction and Installation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dirty="0"/>
              <a:t>Learning Objective</a:t>
            </a:r>
            <a:endParaRPr lang="id-ID" dirty="0"/>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80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1 : Explain fundamental concept of GO Programming Language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dirty="0">
                <a:ea typeface="Open Sans"/>
                <a:cs typeface="Open Sans"/>
              </a:rPr>
              <a:t>Outline</a:t>
            </a:r>
            <a:endParaRPr lang="en-US" dirty="0"/>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r>
              <a:rPr lang="en-US" b="1" dirty="0">
                <a:ea typeface="Open Sans"/>
                <a:cs typeface="Open Sans"/>
              </a:rPr>
              <a:t>The origin of Go</a:t>
            </a:r>
            <a:endParaRPr lang="en-US" dirty="0">
              <a:ea typeface="Open Sans"/>
              <a:cs typeface="Open Sans"/>
            </a:endParaRPr>
          </a:p>
          <a:p>
            <a:r>
              <a:rPr lang="en-US" b="1" dirty="0">
                <a:ea typeface="Open Sans"/>
                <a:cs typeface="Open Sans"/>
              </a:rPr>
              <a:t>Installation</a:t>
            </a:r>
            <a:endParaRPr lang="en-US" dirty="0">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5B708-FC9B-00A9-922A-708391EAA17E}"/>
              </a:ext>
            </a:extLst>
          </p:cNvPr>
          <p:cNvSpPr>
            <a:spLocks noGrp="1"/>
          </p:cNvSpPr>
          <p:nvPr>
            <p:ph type="title"/>
          </p:nvPr>
        </p:nvSpPr>
        <p:spPr/>
        <p:txBody>
          <a:bodyPr/>
          <a:lstStyle/>
          <a:p>
            <a:r>
              <a:rPr lang="en-US" dirty="0">
                <a:ea typeface="Open Sans"/>
                <a:cs typeface="Open Sans"/>
              </a:rPr>
              <a:t>The Origin of go</a:t>
            </a:r>
            <a:endParaRPr lang="en-US" dirty="0"/>
          </a:p>
        </p:txBody>
      </p:sp>
      <p:sp>
        <p:nvSpPr>
          <p:cNvPr id="3" name="Content Placeholder 2">
            <a:extLst>
              <a:ext uri="{FF2B5EF4-FFF2-40B4-BE49-F238E27FC236}">
                <a16:creationId xmlns:a16="http://schemas.microsoft.com/office/drawing/2014/main" id="{37081DDC-E11D-4A37-319D-F18FF771B1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66898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1391C-7614-D478-65D1-524193E45FC7}"/>
              </a:ext>
            </a:extLst>
          </p:cNvPr>
          <p:cNvSpPr>
            <a:spLocks noGrp="1"/>
          </p:cNvSpPr>
          <p:nvPr>
            <p:ph type="title"/>
          </p:nvPr>
        </p:nvSpPr>
        <p:spPr/>
        <p:txBody>
          <a:bodyPr/>
          <a:lstStyle/>
          <a:p>
            <a:r>
              <a:rPr lang="en-US" dirty="0">
                <a:ea typeface="Open Sans"/>
                <a:cs typeface="Open Sans"/>
              </a:rPr>
              <a:t>Preface</a:t>
            </a:r>
            <a:endParaRPr lang="en-US" dirty="0"/>
          </a:p>
        </p:txBody>
      </p:sp>
      <p:sp>
        <p:nvSpPr>
          <p:cNvPr id="3" name="Text Placeholder 2">
            <a:extLst>
              <a:ext uri="{FF2B5EF4-FFF2-40B4-BE49-F238E27FC236}">
                <a16:creationId xmlns:a16="http://schemas.microsoft.com/office/drawing/2014/main" id="{0873727D-BA01-A799-46C8-EC7DCCB11A3E}"/>
              </a:ext>
            </a:extLst>
          </p:cNvPr>
          <p:cNvSpPr>
            <a:spLocks noGrp="1"/>
          </p:cNvSpPr>
          <p:nvPr>
            <p:ph idx="1"/>
          </p:nvPr>
        </p:nvSpPr>
        <p:spPr/>
        <p:txBody>
          <a:bodyPr vert="horz" lIns="91440" tIns="45720" rIns="91440" bIns="45720" rtlCol="0" anchor="t">
            <a:normAutofit/>
          </a:bodyPr>
          <a:lstStyle/>
          <a:p>
            <a:pPr algn="ctr">
              <a:buNone/>
            </a:pPr>
            <a:r>
              <a:rPr lang="en-US" dirty="0">
                <a:ea typeface="Open Sans"/>
                <a:cs typeface="Open Sans"/>
              </a:rPr>
              <a:t>‘‘Go is an open source programming language that makes it easy to build simple, reliable, and efficient software.’’ (From the Go web site at golang.org)</a:t>
            </a:r>
            <a:endParaRPr lang="en-US"/>
          </a:p>
        </p:txBody>
      </p:sp>
    </p:spTree>
    <p:extLst>
      <p:ext uri="{BB962C8B-B14F-4D97-AF65-F5344CB8AC3E}">
        <p14:creationId xmlns:p14="http://schemas.microsoft.com/office/powerpoint/2010/main" val="3525839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5CBE-178D-8513-456F-A822E6C8BEFF}"/>
              </a:ext>
            </a:extLst>
          </p:cNvPr>
          <p:cNvSpPr>
            <a:spLocks noGrp="1"/>
          </p:cNvSpPr>
          <p:nvPr>
            <p:ph type="title"/>
          </p:nvPr>
        </p:nvSpPr>
        <p:spPr/>
        <p:txBody>
          <a:bodyPr/>
          <a:lstStyle/>
          <a:p>
            <a:r>
              <a:rPr lang="en-US" dirty="0">
                <a:ea typeface="Open Sans"/>
                <a:cs typeface="Open Sans"/>
              </a:rPr>
              <a:t>History</a:t>
            </a:r>
            <a:endParaRPr lang="en-US" dirty="0"/>
          </a:p>
        </p:txBody>
      </p:sp>
      <p:sp>
        <p:nvSpPr>
          <p:cNvPr id="3" name="Content Placeholder 2">
            <a:extLst>
              <a:ext uri="{FF2B5EF4-FFF2-40B4-BE49-F238E27FC236}">
                <a16:creationId xmlns:a16="http://schemas.microsoft.com/office/drawing/2014/main" id="{E2727E9A-CE48-1885-0EF5-7B67BFB3EC92}"/>
              </a:ext>
            </a:extLst>
          </p:cNvPr>
          <p:cNvSpPr>
            <a:spLocks noGrp="1"/>
          </p:cNvSpPr>
          <p:nvPr>
            <p:ph idx="1"/>
          </p:nvPr>
        </p:nvSpPr>
        <p:spPr/>
        <p:txBody>
          <a:bodyPr vert="horz" lIns="91440" tIns="45720" rIns="91440" bIns="45720" rtlCol="0" anchor="t">
            <a:normAutofit fontScale="92500" lnSpcReduction="20000"/>
          </a:bodyPr>
          <a:lstStyle/>
          <a:p>
            <a:r>
              <a:rPr lang="en-US" dirty="0">
                <a:ea typeface="Open Sans"/>
                <a:cs typeface="Open Sans"/>
              </a:rPr>
              <a:t>Go was conceived in September 2007 by Robert Griesemer, Rob Pike, and Ken Thompson, all at Google, and was announced in November 2009. The goals of the language and its accompanying tools were to be expressive, efficient in both compilation and execution, and effective in writing reliable and robust programs.</a:t>
            </a:r>
          </a:p>
          <a:p>
            <a:r>
              <a:rPr lang="en-US" dirty="0">
                <a:ea typeface="Open Sans"/>
                <a:cs typeface="Open Sans"/>
              </a:rPr>
              <a:t>Go bears a surface similarity to C and, like C, is a tool for professional programmers, achieving maximum effect with minimum means.</a:t>
            </a:r>
          </a:p>
          <a:p>
            <a:r>
              <a:rPr lang="en-US" dirty="0">
                <a:ea typeface="Open Sans"/>
                <a:cs typeface="Open Sans"/>
              </a:rPr>
              <a:t>Go is especially well suited for building infrastructure like networked servers, and tools and systems for programmers, but it is truly a general-purpose language and finds use in domains as diverse as graphics, mobile applications, and machine learning</a:t>
            </a:r>
          </a:p>
          <a:p>
            <a:endParaRPr lang="en-US" dirty="0">
              <a:ea typeface="Open Sans"/>
              <a:cs typeface="Open Sans"/>
            </a:endParaRPr>
          </a:p>
        </p:txBody>
      </p:sp>
    </p:spTree>
    <p:extLst>
      <p:ext uri="{BB962C8B-B14F-4D97-AF65-F5344CB8AC3E}">
        <p14:creationId xmlns:p14="http://schemas.microsoft.com/office/powerpoint/2010/main" val="4076145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iagram&#10;&#10;Description automatically generated">
            <a:extLst>
              <a:ext uri="{FF2B5EF4-FFF2-40B4-BE49-F238E27FC236}">
                <a16:creationId xmlns:a16="http://schemas.microsoft.com/office/drawing/2014/main" id="{32F0B99C-3514-5360-2C0F-FE302CBC16D1}"/>
              </a:ext>
            </a:extLst>
          </p:cNvPr>
          <p:cNvPicPr>
            <a:picLocks noGrp="1" noChangeAspect="1"/>
          </p:cNvPicPr>
          <p:nvPr>
            <p:ph idx="1"/>
          </p:nvPr>
        </p:nvPicPr>
        <p:blipFill>
          <a:blip r:embed="rId2"/>
          <a:stretch>
            <a:fillRect/>
          </a:stretch>
        </p:blipFill>
        <p:spPr>
          <a:xfrm>
            <a:off x="1809038" y="1443592"/>
            <a:ext cx="6487112" cy="5128269"/>
          </a:xfrm>
          <a:noFill/>
        </p:spPr>
      </p:pic>
    </p:spTree>
    <p:extLst>
      <p:ext uri="{BB962C8B-B14F-4D97-AF65-F5344CB8AC3E}">
        <p14:creationId xmlns:p14="http://schemas.microsoft.com/office/powerpoint/2010/main" val="1654806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DD7E-610C-104F-E4D9-E4E57DECAC2C}"/>
              </a:ext>
            </a:extLst>
          </p:cNvPr>
          <p:cNvSpPr>
            <a:spLocks noGrp="1"/>
          </p:cNvSpPr>
          <p:nvPr>
            <p:ph type="title"/>
          </p:nvPr>
        </p:nvSpPr>
        <p:spPr/>
        <p:txBody>
          <a:bodyPr/>
          <a:lstStyle/>
          <a:p>
            <a:r>
              <a:rPr lang="en-US" dirty="0">
                <a:ea typeface="Open Sans"/>
                <a:cs typeface="Open Sans"/>
              </a:rPr>
              <a:t>Installation (Windows)</a:t>
            </a:r>
            <a:endParaRPr lang="en-US" dirty="0"/>
          </a:p>
        </p:txBody>
      </p:sp>
      <p:sp>
        <p:nvSpPr>
          <p:cNvPr id="3" name="Content Placeholder 2">
            <a:extLst>
              <a:ext uri="{FF2B5EF4-FFF2-40B4-BE49-F238E27FC236}">
                <a16:creationId xmlns:a16="http://schemas.microsoft.com/office/drawing/2014/main" id="{868B0950-9FB9-A836-EF04-095A7B5E2363}"/>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Download GO: </a:t>
            </a:r>
            <a:r>
              <a:rPr lang="en-US" dirty="0">
                <a:ea typeface="Open Sans"/>
                <a:cs typeface="Open Sans"/>
                <a:hlinkClick r:id="rId2"/>
              </a:rPr>
              <a:t>https://go.dev/doc/install</a:t>
            </a:r>
            <a:endParaRPr lang="en-US">
              <a:ea typeface="Open Sans"/>
              <a:cs typeface="Open Sans"/>
            </a:endParaRPr>
          </a:p>
          <a:p>
            <a:r>
              <a:rPr lang="en-US" dirty="0">
                <a:ea typeface="Open Sans"/>
                <a:cs typeface="Open Sans"/>
              </a:rPr>
              <a:t>Open the MSI file you downloaded and follow the prompts to install Go.</a:t>
            </a:r>
          </a:p>
          <a:p>
            <a:r>
              <a:rPr lang="en-US" dirty="0">
                <a:ea typeface="Open Sans"/>
                <a:cs typeface="Open Sans"/>
              </a:rPr>
              <a:t>By default, the installer will install Go to Program Files or Program Files (x86). You can change the location as needed. After installing, you will need to close and reopen any open command prompts so that changes to the environment made by the installer are reflected at the command prompt.</a:t>
            </a:r>
            <a:endParaRPr lang="en-US" dirty="0"/>
          </a:p>
          <a:p>
            <a:endParaRPr lang="en-US" dirty="0">
              <a:ea typeface="Open Sans"/>
              <a:cs typeface="Open Sans"/>
            </a:endParaRPr>
          </a:p>
        </p:txBody>
      </p:sp>
    </p:spTree>
    <p:extLst>
      <p:ext uri="{BB962C8B-B14F-4D97-AF65-F5344CB8AC3E}">
        <p14:creationId xmlns:p14="http://schemas.microsoft.com/office/powerpoint/2010/main" val="1695190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35EB-2F4D-F994-FEBE-E84669BFF995}"/>
              </a:ext>
            </a:extLst>
          </p:cNvPr>
          <p:cNvSpPr>
            <a:spLocks noGrp="1"/>
          </p:cNvSpPr>
          <p:nvPr>
            <p:ph type="title"/>
          </p:nvPr>
        </p:nvSpPr>
        <p:spPr/>
        <p:txBody>
          <a:bodyPr/>
          <a:lstStyle/>
          <a:p>
            <a:r>
              <a:rPr lang="en-US" dirty="0">
                <a:ea typeface="Open Sans"/>
                <a:cs typeface="Open Sans"/>
              </a:rPr>
              <a:t>Installation (Mac)</a:t>
            </a:r>
            <a:endParaRPr lang="en-US" dirty="0"/>
          </a:p>
        </p:txBody>
      </p:sp>
      <p:sp>
        <p:nvSpPr>
          <p:cNvPr id="3" name="Content Placeholder 2">
            <a:extLst>
              <a:ext uri="{FF2B5EF4-FFF2-40B4-BE49-F238E27FC236}">
                <a16:creationId xmlns:a16="http://schemas.microsoft.com/office/drawing/2014/main" id="{2A8DCDF0-75EE-995B-B3D4-3D2783C8D05E}"/>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Download: </a:t>
            </a:r>
            <a:r>
              <a:rPr lang="en-US" dirty="0">
                <a:ea typeface="Open Sans"/>
                <a:cs typeface="Open Sans"/>
                <a:hlinkClick r:id="rId2"/>
              </a:rPr>
              <a:t>https://go.dev/dl/go1.19.2.darwin-amd64.pkg</a:t>
            </a:r>
            <a:endParaRPr lang="en-US">
              <a:ea typeface="Open Sans"/>
              <a:cs typeface="Open Sans"/>
            </a:endParaRPr>
          </a:p>
          <a:p>
            <a:r>
              <a:rPr lang="en-US" dirty="0">
                <a:ea typeface="Open Sans"/>
                <a:cs typeface="Open Sans"/>
              </a:rPr>
              <a:t>Open the package file you downloaded and follow the prompts to install Go.</a:t>
            </a:r>
          </a:p>
          <a:p>
            <a:r>
              <a:rPr lang="en-US" dirty="0">
                <a:ea typeface="Open Sans"/>
                <a:cs typeface="Open Sans"/>
              </a:rPr>
              <a:t>The package installs the Go distribution to /</a:t>
            </a:r>
            <a:r>
              <a:rPr lang="en-US" dirty="0" err="1">
                <a:ea typeface="Open Sans"/>
                <a:cs typeface="Open Sans"/>
              </a:rPr>
              <a:t>usr</a:t>
            </a:r>
            <a:r>
              <a:rPr lang="en-US" dirty="0">
                <a:ea typeface="Open Sans"/>
                <a:cs typeface="Open Sans"/>
              </a:rPr>
              <a:t>/local/go. The package should put the /</a:t>
            </a:r>
            <a:r>
              <a:rPr lang="en-US" dirty="0" err="1">
                <a:ea typeface="Open Sans"/>
                <a:cs typeface="Open Sans"/>
              </a:rPr>
              <a:t>usr</a:t>
            </a:r>
            <a:r>
              <a:rPr lang="en-US" dirty="0">
                <a:ea typeface="Open Sans"/>
                <a:cs typeface="Open Sans"/>
              </a:rPr>
              <a:t>/local/go/bin directory in your PATH environment variable. You may need to restart any open Terminal sessions for the change to take effect.</a:t>
            </a:r>
            <a:endParaRPr lang="en-US" dirty="0"/>
          </a:p>
          <a:p>
            <a:endParaRPr lang="en-US" dirty="0">
              <a:ea typeface="Open Sans"/>
              <a:cs typeface="Open Sans"/>
            </a:endParaRPr>
          </a:p>
        </p:txBody>
      </p:sp>
    </p:spTree>
    <p:extLst>
      <p:ext uri="{BB962C8B-B14F-4D97-AF65-F5344CB8AC3E}">
        <p14:creationId xmlns:p14="http://schemas.microsoft.com/office/powerpoint/2010/main" val="1038788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B89C4-9F38-C573-7FEB-DBF372FEE009}"/>
              </a:ext>
            </a:extLst>
          </p:cNvPr>
          <p:cNvSpPr>
            <a:spLocks noGrp="1"/>
          </p:cNvSpPr>
          <p:nvPr>
            <p:ph type="title"/>
          </p:nvPr>
        </p:nvSpPr>
        <p:spPr/>
        <p:txBody>
          <a:bodyPr/>
          <a:lstStyle/>
          <a:p>
            <a:r>
              <a:rPr lang="en-US" dirty="0">
                <a:ea typeface="Open Sans"/>
                <a:cs typeface="Open Sans"/>
              </a:rPr>
              <a:t>Installation (Linux)</a:t>
            </a:r>
            <a:endParaRPr lang="en-US" dirty="0"/>
          </a:p>
        </p:txBody>
      </p:sp>
      <p:sp>
        <p:nvSpPr>
          <p:cNvPr id="3" name="Content Placeholder 2">
            <a:extLst>
              <a:ext uri="{FF2B5EF4-FFF2-40B4-BE49-F238E27FC236}">
                <a16:creationId xmlns:a16="http://schemas.microsoft.com/office/drawing/2014/main" id="{7C1388C6-98A5-18A5-BD6E-039461A1C138}"/>
              </a:ext>
            </a:extLst>
          </p:cNvPr>
          <p:cNvSpPr>
            <a:spLocks noGrp="1"/>
          </p:cNvSpPr>
          <p:nvPr>
            <p:ph idx="1"/>
          </p:nvPr>
        </p:nvSpPr>
        <p:spPr/>
        <p:txBody>
          <a:bodyPr vert="horz" lIns="91440" tIns="45720" rIns="91440" bIns="45720" rtlCol="0" anchor="t">
            <a:normAutofit fontScale="62500" lnSpcReduction="20000"/>
          </a:bodyPr>
          <a:lstStyle/>
          <a:p>
            <a:r>
              <a:rPr lang="en-US" dirty="0">
                <a:ea typeface="Open Sans"/>
                <a:cs typeface="Open Sans"/>
              </a:rPr>
              <a:t>Download: </a:t>
            </a:r>
            <a:r>
              <a:rPr lang="en-US" dirty="0">
                <a:ea typeface="Open Sans"/>
                <a:cs typeface="Open Sans"/>
                <a:hlinkClick r:id="rId2"/>
              </a:rPr>
              <a:t>https://go.dev/dl/go1.19.2.linux-amd64.tar.gz</a:t>
            </a:r>
            <a:endParaRPr lang="en-US">
              <a:ea typeface="Open Sans"/>
              <a:cs typeface="Open Sans"/>
            </a:endParaRPr>
          </a:p>
          <a:p>
            <a:r>
              <a:rPr lang="en-US" b="1" dirty="0">
                <a:ea typeface="Open Sans"/>
                <a:cs typeface="Open Sans"/>
              </a:rPr>
              <a:t>Remove any previous Go installation</a:t>
            </a:r>
            <a:r>
              <a:rPr lang="en-US" dirty="0">
                <a:ea typeface="Open Sans"/>
                <a:cs typeface="Open Sans"/>
              </a:rPr>
              <a:t> by deleting the /</a:t>
            </a:r>
            <a:r>
              <a:rPr lang="en-US" dirty="0" err="1">
                <a:ea typeface="Open Sans"/>
                <a:cs typeface="Open Sans"/>
              </a:rPr>
              <a:t>usr</a:t>
            </a:r>
            <a:r>
              <a:rPr lang="en-US" dirty="0">
                <a:ea typeface="Open Sans"/>
                <a:cs typeface="Open Sans"/>
              </a:rPr>
              <a:t>/local/go folder (if it exists), then extract the archive you just downloaded into /</a:t>
            </a:r>
            <a:r>
              <a:rPr lang="en-US" dirty="0" err="1">
                <a:ea typeface="Open Sans"/>
                <a:cs typeface="Open Sans"/>
              </a:rPr>
              <a:t>usr</a:t>
            </a:r>
            <a:r>
              <a:rPr lang="en-US" dirty="0">
                <a:ea typeface="Open Sans"/>
                <a:cs typeface="Open Sans"/>
              </a:rPr>
              <a:t>/local, creating a fresh Go tree in /</a:t>
            </a:r>
            <a:r>
              <a:rPr lang="en-US" dirty="0" err="1">
                <a:ea typeface="Open Sans"/>
                <a:cs typeface="Open Sans"/>
              </a:rPr>
              <a:t>usr</a:t>
            </a:r>
            <a:r>
              <a:rPr lang="en-US" dirty="0">
                <a:ea typeface="Open Sans"/>
                <a:cs typeface="Open Sans"/>
              </a:rPr>
              <a:t>/local/go:$ rm -rf /</a:t>
            </a:r>
            <a:r>
              <a:rPr lang="en-US" dirty="0" err="1">
                <a:ea typeface="Open Sans"/>
                <a:cs typeface="Open Sans"/>
              </a:rPr>
              <a:t>usr</a:t>
            </a:r>
            <a:r>
              <a:rPr lang="en-US" dirty="0">
                <a:ea typeface="Open Sans"/>
                <a:cs typeface="Open Sans"/>
              </a:rPr>
              <a:t>/local/go &amp;&amp; tar -C /</a:t>
            </a:r>
            <a:r>
              <a:rPr lang="en-US" dirty="0" err="1">
                <a:ea typeface="Open Sans"/>
                <a:cs typeface="Open Sans"/>
              </a:rPr>
              <a:t>usr</a:t>
            </a:r>
            <a:r>
              <a:rPr lang="en-US" dirty="0">
                <a:ea typeface="Open Sans"/>
                <a:cs typeface="Open Sans"/>
              </a:rPr>
              <a:t>/local -</a:t>
            </a:r>
            <a:r>
              <a:rPr lang="en-US" dirty="0" err="1">
                <a:ea typeface="Open Sans"/>
                <a:cs typeface="Open Sans"/>
              </a:rPr>
              <a:t>xzf</a:t>
            </a:r>
            <a:r>
              <a:rPr lang="en-US" dirty="0">
                <a:ea typeface="Open Sans"/>
                <a:cs typeface="Open Sans"/>
              </a:rPr>
              <a:t> go1.19.2.linux-amd64.tar.gz
</a:t>
            </a:r>
          </a:p>
          <a:p>
            <a:r>
              <a:rPr lang="en-US" dirty="0">
                <a:ea typeface="Open Sans"/>
                <a:cs typeface="Open Sans"/>
              </a:rPr>
              <a:t>(You may need to run the command as root or through </a:t>
            </a:r>
            <a:r>
              <a:rPr lang="en-US" dirty="0" err="1">
                <a:ea typeface="Open Sans"/>
                <a:cs typeface="Open Sans"/>
              </a:rPr>
              <a:t>sudo</a:t>
            </a:r>
            <a:r>
              <a:rPr lang="en-US" dirty="0">
                <a:ea typeface="Open Sans"/>
                <a:cs typeface="Open Sans"/>
              </a:rPr>
              <a:t>).</a:t>
            </a:r>
            <a:endParaRPr lang="en-US" dirty="0"/>
          </a:p>
          <a:p>
            <a:r>
              <a:rPr lang="en-US" b="1" dirty="0">
                <a:ea typeface="Open Sans"/>
                <a:cs typeface="Open Sans"/>
              </a:rPr>
              <a:t>Do not</a:t>
            </a:r>
            <a:r>
              <a:rPr lang="en-US" dirty="0">
                <a:ea typeface="Open Sans"/>
                <a:cs typeface="Open Sans"/>
              </a:rPr>
              <a:t> </a:t>
            </a:r>
            <a:r>
              <a:rPr lang="en-US" dirty="0" err="1">
                <a:ea typeface="Open Sans"/>
                <a:cs typeface="Open Sans"/>
              </a:rPr>
              <a:t>untar</a:t>
            </a:r>
            <a:r>
              <a:rPr lang="en-US" dirty="0">
                <a:ea typeface="Open Sans"/>
                <a:cs typeface="Open Sans"/>
              </a:rPr>
              <a:t> the archive into an existing /</a:t>
            </a:r>
            <a:r>
              <a:rPr lang="en-US" dirty="0" err="1">
                <a:ea typeface="Open Sans"/>
                <a:cs typeface="Open Sans"/>
              </a:rPr>
              <a:t>usr</a:t>
            </a:r>
            <a:r>
              <a:rPr lang="en-US" dirty="0">
                <a:ea typeface="Open Sans"/>
                <a:cs typeface="Open Sans"/>
              </a:rPr>
              <a:t>/local/go tree. This is known to produce broken Go installations.</a:t>
            </a:r>
            <a:endParaRPr lang="en-US" dirty="0"/>
          </a:p>
          <a:p>
            <a:r>
              <a:rPr lang="en-US" dirty="0">
                <a:ea typeface="Open Sans"/>
                <a:cs typeface="Open Sans"/>
              </a:rPr>
              <a:t>Add /</a:t>
            </a:r>
            <a:r>
              <a:rPr lang="en-US" dirty="0" err="1">
                <a:ea typeface="Open Sans"/>
                <a:cs typeface="Open Sans"/>
              </a:rPr>
              <a:t>usr</a:t>
            </a:r>
            <a:r>
              <a:rPr lang="en-US" dirty="0">
                <a:ea typeface="Open Sans"/>
                <a:cs typeface="Open Sans"/>
              </a:rPr>
              <a:t>/local/go/bin to the PATH environment variable.</a:t>
            </a:r>
          </a:p>
          <a:p>
            <a:r>
              <a:rPr lang="en-US" dirty="0">
                <a:ea typeface="Open Sans"/>
                <a:cs typeface="Open Sans"/>
              </a:rPr>
              <a:t>You can do this by adding the following line to your $HOME/.profile or /</a:t>
            </a:r>
            <a:r>
              <a:rPr lang="en-US" dirty="0" err="1">
                <a:ea typeface="Open Sans"/>
                <a:cs typeface="Open Sans"/>
              </a:rPr>
              <a:t>etc</a:t>
            </a:r>
            <a:r>
              <a:rPr lang="en-US" dirty="0">
                <a:ea typeface="Open Sans"/>
                <a:cs typeface="Open Sans"/>
              </a:rPr>
              <a:t>/profile (for a system-wide installation):</a:t>
            </a:r>
            <a:endParaRPr lang="en-US" dirty="0"/>
          </a:p>
          <a:p>
            <a:r>
              <a:rPr lang="en-US" dirty="0">
                <a:ea typeface="Open Sans"/>
                <a:cs typeface="Open Sans"/>
              </a:rPr>
              <a:t>export PATH=$PATH:/usr/local/go/bin
</a:t>
            </a:r>
            <a:endParaRPr lang="en-US" dirty="0"/>
          </a:p>
          <a:p>
            <a:r>
              <a:rPr lang="en-US" b="1" dirty="0">
                <a:ea typeface="Open Sans"/>
                <a:cs typeface="Open Sans"/>
              </a:rPr>
              <a:t>Note:</a:t>
            </a:r>
            <a:r>
              <a:rPr lang="en-US" dirty="0">
                <a:ea typeface="Open Sans"/>
                <a:cs typeface="Open Sans"/>
              </a:rPr>
              <a:t> Changes made to a profile file may not apply until the next time you log into your computer. To apply the changes immediately, just run the shell commands directly or execute them from the profile using a command such as source $HOME/.profile.</a:t>
            </a:r>
            <a:endParaRPr lang="en-US" dirty="0"/>
          </a:p>
        </p:txBody>
      </p:sp>
    </p:spTree>
    <p:extLst>
      <p:ext uri="{BB962C8B-B14F-4D97-AF65-F5344CB8AC3E}">
        <p14:creationId xmlns:p14="http://schemas.microsoft.com/office/powerpoint/2010/main" val="1449165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0F9B-7090-48B0-C099-79A4FCD87C9C}"/>
              </a:ext>
            </a:extLst>
          </p:cNvPr>
          <p:cNvSpPr>
            <a:spLocks noGrp="1"/>
          </p:cNvSpPr>
          <p:nvPr>
            <p:ph type="title"/>
          </p:nvPr>
        </p:nvSpPr>
        <p:spPr/>
        <p:txBody>
          <a:bodyPr/>
          <a:lstStyle/>
          <a:p>
            <a:r>
              <a:rPr lang="en-US" dirty="0">
                <a:ea typeface="Open Sans"/>
                <a:cs typeface="Open Sans"/>
              </a:rPr>
              <a:t>Verifying</a:t>
            </a:r>
            <a:endParaRPr lang="en-US" dirty="0"/>
          </a:p>
        </p:txBody>
      </p:sp>
      <p:sp>
        <p:nvSpPr>
          <p:cNvPr id="3" name="Content Placeholder 2">
            <a:extLst>
              <a:ext uri="{FF2B5EF4-FFF2-40B4-BE49-F238E27FC236}">
                <a16:creationId xmlns:a16="http://schemas.microsoft.com/office/drawing/2014/main" id="{9565EA00-A502-2E60-9160-59751FEB0489}"/>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Verify that you've installed Go by opening a command prompt and typing the following command:</a:t>
            </a:r>
            <a:endParaRPr lang="en-US" dirty="0"/>
          </a:p>
          <a:p>
            <a:pPr marL="0" indent="0">
              <a:buNone/>
            </a:pPr>
            <a:r>
              <a:rPr lang="en-US" dirty="0">
                <a:ea typeface="Open Sans"/>
                <a:cs typeface="Open Sans"/>
              </a:rPr>
              <a:t>$ go version</a:t>
            </a:r>
          </a:p>
          <a:p>
            <a:endParaRPr lang="en-US" dirty="0">
              <a:ea typeface="Open Sans"/>
              <a:cs typeface="Open Sans"/>
            </a:endParaRPr>
          </a:p>
        </p:txBody>
      </p:sp>
    </p:spTree>
    <p:extLst>
      <p:ext uri="{BB962C8B-B14F-4D97-AF65-F5344CB8AC3E}">
        <p14:creationId xmlns:p14="http://schemas.microsoft.com/office/powerpoint/2010/main" val="1604491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dirty="0"/>
              <a:t>References</a:t>
            </a:r>
            <a:endParaRPr lang="id-ID" dirty="0"/>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effectLst/>
                <a:ea typeface="Open Sans"/>
                <a:cs typeface="Open Sans"/>
                <a:hlinkClick r:id="rId2">
                  <a:extLst>
                    <a:ext uri="{A12FA001-AC4F-418D-AE19-62706E023703}">
                      <ahyp:hlinkClr xmlns:ahyp="http://schemas.microsoft.com/office/drawing/2018/hyperlinkcolor" val="tx"/>
                    </a:ext>
                  </a:extLst>
                </a:hlinkClick>
              </a:rPr>
              <a:t>https://</a:t>
            </a:r>
            <a:r>
              <a:rPr lang="en-AU" sz="1800" dirty="0">
                <a:ea typeface="Open Sans"/>
                <a:cs typeface="Open Sans"/>
                <a:hlinkClick r:id="rId2">
                  <a:extLst>
                    <a:ext uri="{A12FA001-AC4F-418D-AE19-62706E023703}">
                      <ahyp:hlinkClr xmlns:ahyp="http://schemas.microsoft.com/office/drawing/2018/hyperlinkcolor" val="tx"/>
                    </a:ext>
                  </a:extLst>
                </a:hlinkClick>
              </a:rPr>
              <a:t>go</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dev</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doc</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install</a:t>
            </a:r>
            <a:endParaRPr lang="en-AU" sz="1800" dirty="0">
              <a:ea typeface="Open Sans"/>
              <a:cs typeface="Open Sans"/>
            </a:endParaRPr>
          </a:p>
          <a:p>
            <a:pPr>
              <a:lnSpc>
                <a:spcPct val="107000"/>
              </a:lnSpc>
              <a:spcAft>
                <a:spcPts val="800"/>
              </a:spcAft>
            </a:pPr>
            <a:r>
              <a:rPr lang="en-US" sz="1600" dirty="0">
                <a:hlinkClick r:id="rId3"/>
              </a:rPr>
              <a:t>How to Install Go on Windows? - </a:t>
            </a:r>
            <a:r>
              <a:rPr lang="en-US" sz="1600" dirty="0" err="1">
                <a:hlinkClick r:id="rId3"/>
              </a:rPr>
              <a:t>GeeksforGeeks</a:t>
            </a: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3231</TotalTime>
  <Words>636</Words>
  <Application>Microsoft Office PowerPoint</Application>
  <PresentationFormat>On-screen Show (4:3)</PresentationFormat>
  <Paragraphs>38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Open Sans</vt:lpstr>
      <vt:lpstr>Symbol</vt:lpstr>
      <vt:lpstr>Template PPT 2015</vt:lpstr>
      <vt:lpstr>Popular Programming Tech</vt:lpstr>
      <vt:lpstr>Learning Objective</vt:lpstr>
      <vt:lpstr>Outline</vt:lpstr>
      <vt:lpstr>The Origin of go</vt:lpstr>
      <vt:lpstr>Preface</vt:lpstr>
      <vt:lpstr>History</vt:lpstr>
      <vt:lpstr>PowerPoint Presentation</vt:lpstr>
      <vt:lpstr>Installation (Windows)</vt:lpstr>
      <vt:lpstr>Installation (Mac)</vt:lpstr>
      <vt:lpstr>Installation (Linux)</vt:lpstr>
      <vt:lpstr>Verifying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198</cp:revision>
  <dcterms:created xsi:type="dcterms:W3CDTF">2015-05-04T03:33:03Z</dcterms:created>
  <dcterms:modified xsi:type="dcterms:W3CDTF">2023-01-02T04:02:37Z</dcterms:modified>
</cp:coreProperties>
</file>